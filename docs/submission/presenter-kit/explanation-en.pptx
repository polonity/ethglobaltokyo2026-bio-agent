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biological decision models usable and testable
Lead with the intended improvement: the cost of routine decisions and repeated integration work. Reuse input validation and model/learning descriptions. Developer-time savings have not been measured.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environment and stimuli in TXs
The owner initializes the environment. Workers checks hourly and sends to Agent #1 at least one hour apart. Show recorded TXs within a minute. Registration, zero stimulus, duplicates and failed TXs add no food.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the confirmed world into movement or rest
Measured wiring supplies the topology; dynamics and sensory/motor mappings are engineered. Consumed food disappears. Clicking selects an agent; it does not create food.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Replay experience and compare the candidate
The wiring stays fixed. Training copies never add visible food. Recovery on returning from training is not a learned improvement. The full-market video uses separate online readout updates, without this adoption gate.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working integration from improved behavior
These are saved observations from three different tracks. Research used five search seeds and 60 unseen worlds per profile; final body energy also fell. The new recording includes current environment TXs. Full-foraging readouts are separate from public Q-learning.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useful decisions within a small budget
The current market uses custom FlyV3Router and V3 core, not Universal Router or Trading API. Savings would accrue to agent operators. User growth, protocol revenue and energy savings have not been measured.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code runs and what crosses each boundary
Public mode computes seven-neuron decisions and Q-learning inside the JavaScript browser runtime. Workers serves assets and verified inputs. Its scheduled writer uses the owner key in a Worker Secret and a Durable Object send journal. Manual Sepolia writes use the owner browser wallet; Anvil uses local accounts. Full mode places world/reward/execution logic in Node.js, which communicates with a Python child over stdin/stdout JSON Lines. Python computes 166,700 neurons and learned readouts; it does not use signing keys. Foraging experience lives in SQLite, market readouts in JSON, and public policies/consumed-food history in localStorage. Solidity enforces owners, revisions/nonces, inputs and settlement; it does not perform inference or learning. Shared TypeScript types are a proposal, not universal runtime integration. The independent JS framework is also a separate implementation. Details: docs/architecture.en.md.
A roughly one-minute script: We are building a framework for using biological decision models in applications and testing whether learning helps. First, we record the environment, including hazards, in a transaction. A confirmed stimulus then adds food, and the agent chooses movement or rest. Learning replays that environment and experience, adopting an improved candidate. The demo lets us trace inputs, decisions and learning. A separate controlled experiment improved reward, but did not establish a biological advantage. Next, we will compare the same task against small AI models, measuring adaptation speed and resource use.
Sources: docs/submission/sepolia-evidence.json; presenter-kit/capture-evidence.json; docs/research/bioagent-adaptation/README.md. Timing is a suggested pace, not measured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PURPOSE</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Make biological decision models usable and testable</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For agent developers and researchers</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Aim: economical repeated decisions and adaptation</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Built: traceable inputs, models and learning results</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Lower power and an advantage over ordinary AI remain hypotheses.</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1 / 7    ·    0–10s    ·    2026-09-26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1 · INPUT</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Record the environment and stimuli in TXs</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Initial TX: dimensions, seed and hazards</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Stimulus TX: one confirmed positive input adds one food</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Open the environment and food source TXs on screen</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All external inputs to the flies come from onchain data.</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2 / 7    ·    10–20s    ·    2026-09-26</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2 · DECISION</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Turn the confirmed world into movement or rest</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Verify TXs and events before applying inputs</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Encode the environment and internal body state</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7 measured neurons, 19 connections → action → outcome</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Encoding, body state, decisions and rendering run offchain.</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3 / 7    ·    20–30s    ·    2026-09-26</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3 · LEARNING</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Replay experience and compare the candidate</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Select an agent and “Start learning”</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Update Q-values from a confirmed-world copy and experience</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Higher comparison score: adopt / Otherwise: keep</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Same-environment replay is separate from unseen-world testing.</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4 / 7    ·    30–40s    ·    2026-09-26</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4 · EVIDENCE</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Separate working integration from improved behavior</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Public: a scheduled TX increased food from 3 to 4</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Video: four full agents, 2 Aqua and 25 V3 settlements</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Research: reward 18.79 → 56.12; direct-input control 56.08</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Integration and learning work; biological superiority is unproven.</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5 / 7    ·    40–50s    ·    2026-09-26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STEP 5 · NEXT TEST</a:t>
            </a:r>
            <a:endParaRPr lang="en-US" sz="1200" dirty="0"/>
          </a:p>
        </p:txBody>
      </p:sp>
      <p:sp>
        <p:nvSpPr>
          <p:cNvPr id="3" name="Text 1"/>
          <p:cNvSpPr/>
          <p:nvPr/>
        </p:nvSpPr>
        <p:spPr>
          <a:xfrm>
            <a:off x="548640" y="987552"/>
            <a:ext cx="11064240" cy="1005840"/>
          </a:xfrm>
          <a:prstGeom prst="rect">
            <a:avLst/>
          </a:prstGeom>
          <a:noFill/>
          <a:ln/>
        </p:spPr>
        <p:txBody>
          <a:bodyPr wrap="square" lIns="0" tIns="0" rIns="0" bIns="0" rtlCol="0" anchor="ctr"/>
          <a:lstStyle/>
          <a:p>
            <a:pPr indent="0" marL="0">
              <a:buNone/>
            </a:pPr>
            <a:r>
              <a:rPr lang="en-US" sz="3100" b="1" dirty="0">
                <a:solidFill>
                  <a:srgbClr val="153C38"/>
                </a:solidFill>
              </a:rPr>
              <a:t>Measure useful decisions within a small budget</a:t>
            </a:r>
            <a:endParaRPr lang="en-US" sz="3100" dirty="0"/>
          </a:p>
        </p:txBody>
      </p:sp>
      <p:sp>
        <p:nvSpPr>
          <p:cNvPr id="4" name="Shape 2"/>
          <p:cNvSpPr/>
          <p:nvPr/>
        </p:nvSpPr>
        <p:spPr>
          <a:xfrm>
            <a:off x="548640" y="2423160"/>
            <a:ext cx="54864" cy="484632"/>
          </a:xfrm>
          <a:prstGeom prst="rect">
            <a:avLst/>
          </a:prstGeom>
          <a:solidFill>
            <a:srgbClr val="26735F"/>
          </a:solidFill>
          <a:ln w="12700">
            <a:solidFill>
              <a:srgbClr val="26735F"/>
            </a:solidFill>
            <a:prstDash val="solid"/>
          </a:ln>
        </p:spPr>
      </p:sp>
      <p:sp>
        <p:nvSpPr>
          <p:cNvPr id="5" name="Text 3"/>
          <p:cNvSpPr/>
          <p:nvPr/>
        </p:nvSpPr>
        <p:spPr>
          <a:xfrm>
            <a:off x="795528" y="235000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Compare small AI models on the same inputs and task</a:t>
            </a:r>
            <a:endParaRPr lang="en-US" sz="2000" dirty="0"/>
          </a:p>
        </p:txBody>
      </p:sp>
      <p:sp>
        <p:nvSpPr>
          <p:cNvPr id="6" name="Shape 4"/>
          <p:cNvSpPr/>
          <p:nvPr/>
        </p:nvSpPr>
        <p:spPr>
          <a:xfrm>
            <a:off x="548640" y="3200400"/>
            <a:ext cx="54864" cy="484632"/>
          </a:xfrm>
          <a:prstGeom prst="rect">
            <a:avLst/>
          </a:prstGeom>
          <a:solidFill>
            <a:srgbClr val="26735F"/>
          </a:solidFill>
          <a:ln w="12700">
            <a:solidFill>
              <a:srgbClr val="26735F"/>
            </a:solidFill>
            <a:prstDash val="solid"/>
          </a:ln>
        </p:spPr>
      </p:sp>
      <p:sp>
        <p:nvSpPr>
          <p:cNvPr id="7" name="Text 5"/>
          <p:cNvSpPr/>
          <p:nvPr/>
        </p:nvSpPr>
        <p:spPr>
          <a:xfrm>
            <a:off x="795528" y="312724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Measure reward, failures, adaptation, RAM and joules/action</a:t>
            </a:r>
            <a:endParaRPr lang="en-US" sz="2000" dirty="0"/>
          </a:p>
        </p:txBody>
      </p:sp>
      <p:sp>
        <p:nvSpPr>
          <p:cNvPr id="8" name="Shape 6"/>
          <p:cNvSpPr/>
          <p:nvPr/>
        </p:nvSpPr>
        <p:spPr>
          <a:xfrm>
            <a:off x="548640" y="3977640"/>
            <a:ext cx="54864" cy="484632"/>
          </a:xfrm>
          <a:prstGeom prst="rect">
            <a:avLst/>
          </a:prstGeom>
          <a:solidFill>
            <a:srgbClr val="26735F"/>
          </a:solidFill>
          <a:ln w="12700">
            <a:solidFill>
              <a:srgbClr val="26735F"/>
            </a:solidFill>
            <a:prstDash val="solid"/>
          </a:ln>
        </p:spPr>
      </p:sp>
      <p:sp>
        <p:nvSpPr>
          <p:cNvPr id="9" name="Text 7"/>
          <p:cNvSpPr/>
          <p:nvPr/>
        </p:nvSpPr>
        <p:spPr>
          <a:xfrm>
            <a:off x="795528" y="3904488"/>
            <a:ext cx="10744200" cy="667512"/>
          </a:xfrm>
          <a:prstGeom prst="rect">
            <a:avLst/>
          </a:prstGeom>
          <a:noFill/>
          <a:ln/>
        </p:spPr>
        <p:txBody>
          <a:bodyPr wrap="square" lIns="0" tIns="0" rIns="0" bIns="0" rtlCol="0" anchor="ctr"/>
          <a:lstStyle/>
          <a:p>
            <a:pPr indent="0" marL="0">
              <a:buNone/>
            </a:pPr>
            <a:r>
              <a:rPr lang="en-US" sz="2000" dirty="0">
                <a:solidFill>
                  <a:srgbClr val="153C38"/>
                </a:solidFill>
              </a:rPr>
              <a:t>Apply to Uniswap execute/hold and Aqua offer/withdraw</a:t>
            </a:r>
            <a:endParaRPr lang="en-US" sz="2000" dirty="0"/>
          </a:p>
        </p:txBody>
      </p:sp>
      <p:sp>
        <p:nvSpPr>
          <p:cNvPr id="10" name="Shape 8"/>
          <p:cNvSpPr/>
          <p:nvPr/>
        </p:nvSpPr>
        <p:spPr>
          <a:xfrm>
            <a:off x="548640" y="5157216"/>
            <a:ext cx="11064240" cy="804672"/>
          </a:xfrm>
          <a:prstGeom prst="rect">
            <a:avLst/>
          </a:prstGeom>
          <a:solidFill>
            <a:srgbClr val="E4ECE1"/>
          </a:solidFill>
          <a:ln w="12700">
            <a:solidFill>
              <a:srgbClr val="E4ECE1"/>
            </a:solidFill>
            <a:prstDash val="solid"/>
          </a:ln>
        </p:spPr>
      </p:sp>
      <p:sp>
        <p:nvSpPr>
          <p:cNvPr id="11" name="Text 9"/>
          <p:cNvSpPr/>
          <p:nvPr/>
        </p:nvSpPr>
        <p:spPr>
          <a:xfrm>
            <a:off x="749808" y="5321808"/>
            <a:ext cx="10661904" cy="438912"/>
          </a:xfrm>
          <a:prstGeom prst="rect">
            <a:avLst/>
          </a:prstGeom>
          <a:noFill/>
          <a:ln/>
        </p:spPr>
        <p:txBody>
          <a:bodyPr wrap="square" lIns="0" tIns="0" rIns="0" bIns="0" rtlCol="0" anchor="ctr"/>
          <a:lstStyle/>
          <a:p>
            <a:pPr indent="0" marL="0">
              <a:buNone/>
            </a:pPr>
            <a:r>
              <a:rPr lang="en-US" sz="1500" dirty="0">
                <a:solidFill>
                  <a:srgbClr val="244D43"/>
                </a:solidFill>
              </a:rPr>
              <a:t>Lower operating cost could encourage adoption; that is unmeasured.</a:t>
            </a:r>
            <a:endParaRPr lang="en-US" sz="1500" dirty="0"/>
          </a:p>
        </p:txBody>
      </p:sp>
      <p:sp>
        <p:nvSpPr>
          <p:cNvPr id="12" name="Text 10"/>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6 / 7    ·    50–60s    ·    2026-09-26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EF"/>
        </a:solidFill>
      </p:bgPr>
    </p:bg>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dirty="0">
                <a:solidFill>
                  <a:srgbClr val="26735F"/>
                </a:solidFill>
              </a:rPr>
              <a:t>BIOAGENT  /  APPENDIX · BOUNDARIES &amp; LANGUAGES</a:t>
            </a:r>
            <a:endParaRPr lang="en-US" sz="1200" dirty="0"/>
          </a:p>
        </p:txBody>
      </p:sp>
      <p:sp>
        <p:nvSpPr>
          <p:cNvPr id="3" name="Text 1"/>
          <p:cNvSpPr/>
          <p:nvPr/>
        </p:nvSpPr>
        <p:spPr>
          <a:xfrm>
            <a:off x="548640" y="850392"/>
            <a:ext cx="11064240" cy="640080"/>
          </a:xfrm>
          <a:prstGeom prst="rect">
            <a:avLst/>
          </a:prstGeom>
          <a:noFill/>
          <a:ln/>
        </p:spPr>
        <p:txBody>
          <a:bodyPr wrap="square" lIns="0" tIns="0" rIns="0" bIns="0" rtlCol="0" anchor="ctr"/>
          <a:lstStyle/>
          <a:p>
            <a:pPr indent="0" marL="0">
              <a:buNone/>
            </a:pPr>
            <a:r>
              <a:rPr lang="en-US" sz="3100" b="1" dirty="0">
                <a:solidFill>
                  <a:srgbClr val="153C38"/>
                </a:solidFill>
              </a:rPr>
              <a:t>Where code runs and what crosses each boundary</a:t>
            </a:r>
            <a:endParaRPr lang="en-US" sz="3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73352"/>
          <a:ext cx="11064240" cy="3977640"/>
        </p:xfrm>
        <a:graphic>
          <a:graphicData uri="http://schemas.openxmlformats.org/drawingml/2006/table">
            <a:tbl>
              <a:tblPr/>
              <a:tblGrid>
                <a:gridCol w="1691640"/>
                <a:gridCol w="2606040"/>
                <a:gridCol w="3520440"/>
                <a:gridCol w="3246120"/>
              </a:tblGrid>
              <a:tr h="521208">
                <a:tc>
                  <a:txBody>
                    <a:bodyPr/>
                    <a:lstStyle/>
                    <a:p>
                      <a:pPr indent="0" marL="0">
                        <a:buNone/>
                      </a:pPr>
                      <a:r>
                        <a:rPr lang="en-US" sz="1250" b="1" dirty="0">
                          <a:solidFill>
                            <a:srgbClr val="FFFFFF"/>
                          </a:solidFill>
                          <a:latin typeface="Noto Sans CJK JP" pitchFamily="34" charset="0"/>
                          <a:ea typeface="Noto Sans CJK JP" pitchFamily="34" charset="-122"/>
                          <a:cs typeface="Noto Sans CJK JP" pitchFamily="34" charset="-120"/>
                        </a:rPr>
                        <a:t>Boundary</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26735F"/>
                    </a:solidFill>
                  </a:tcPr>
                </a:tc>
                <a:tc>
                  <a:txBody>
                    <a:bodyPr/>
                    <a:lstStyle/>
                    <a:p>
                      <a:pPr indent="0" marL="0">
                        <a:buNone/>
                      </a:pPr>
                      <a:r>
                        <a:rPr lang="en-US" sz="1250" b="1" dirty="0">
                          <a:solidFill>
                            <a:srgbClr val="FFFFFF"/>
                          </a:solidFill>
                          <a:latin typeface="Noto Sans CJK JP" pitchFamily="34" charset="0"/>
                          <a:ea typeface="Noto Sans CJK JP" pitchFamily="34" charset="-122"/>
                          <a:cs typeface="Noto Sans CJK JP" pitchFamily="34" charset="-120"/>
                        </a:rPr>
                        <a:t>Language / runtime</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26735F"/>
                    </a:solidFill>
                  </a:tcPr>
                </a:tc>
                <a:tc>
                  <a:txBody>
                    <a:bodyPr/>
                    <a:lstStyle/>
                    <a:p>
                      <a:pPr indent="0" marL="0">
                        <a:buNone/>
                      </a:pPr>
                      <a:r>
                        <a:rPr lang="en-US" sz="1250" b="1" dirty="0">
                          <a:solidFill>
                            <a:srgbClr val="FFFFFF"/>
                          </a:solidFill>
                          <a:latin typeface="Noto Sans CJK JP" pitchFamily="34" charset="0"/>
                          <a:ea typeface="Noto Sans CJK JP" pitchFamily="34" charset="-122"/>
                          <a:cs typeface="Noto Sans CJK JP" pitchFamily="34" charset="-120"/>
                        </a:rPr>
                        <a:t>Responsibility</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26735F"/>
                    </a:solidFill>
                  </a:tcPr>
                </a:tc>
                <a:tc>
                  <a:txBody>
                    <a:bodyPr/>
                    <a:lstStyle/>
                    <a:p>
                      <a:pPr indent="0" marL="0">
                        <a:buNone/>
                      </a:pPr>
                      <a:r>
                        <a:rPr lang="en-US" sz="1250" b="1" dirty="0">
                          <a:solidFill>
                            <a:srgbClr val="FFFFFF"/>
                          </a:solidFill>
                          <a:latin typeface="Noto Sans CJK JP" pitchFamily="34" charset="0"/>
                          <a:ea typeface="Noto Sans CJK JP" pitchFamily="34" charset="-122"/>
                          <a:cs typeface="Noto Sans CJK JP" pitchFamily="34" charset="-120"/>
                        </a:rPr>
                        <a:t>Data crossing it</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26735F"/>
                    </a:solidFill>
                  </a:tcPr>
                </a:tc>
              </a:tr>
              <a:tr h="521208">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Browser</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JavaScript / HTML / CSS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Public: 7 neurons + Q-learning</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Full mode: controls + display</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HTTP / JSON</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Verified inputs / view state</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r>
              <a:tr h="521208">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Read gateway</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JavaScript</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Cloudflare Workers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Verify receipts and events</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Anvil shares the read logic</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JSON-RPC</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Blocks, logs, receipts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r>
              <a:tr h="521208">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Signer</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JavaScript + ethers</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Worker / wallet / Anvil</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Owner-authorized TXs</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Budget-capped scheduled sends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ABI / signed TXs</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No server key returned to UI</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r>
              <a:tr h="521208">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Local controller</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JavaScript / Node.js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Full world, rewards, execution</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Ordinary code compares routes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HTTP / JSON ↔ UI</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JSON Lines ↔ Python</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r>
              <a:tr h="521208">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Full-neuron runtime</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Python / NumPy / SciPy</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166,700 neurons + readouts</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Foraging selection / market updates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Numeric inputs → actions</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Outcomes → learning / storage</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r>
              <a:tr h="521208">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EVM contracts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Solidity 0.8.30</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Project-owned contracts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Identity, model refs, world inputs</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Owner checks / market settlement</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c>
                  <a:txBody>
                    <a:bodyPr/>
                    <a:lstStyle/>
                    <a:p>
                      <a:pPr indent="0" marL="0">
                        <a:buNone/>
                      </a:pPr>
                      <a:r>
                        <a:rPr lang="en-US" sz="1250" dirty="0">
                          <a:solidFill>
                            <a:srgbClr val="153C38"/>
                          </a:solidFill>
                          <a:latin typeface="Noto Sans CJK JP" pitchFamily="34" charset="0"/>
                          <a:ea typeface="Noto Sans CJK JP" pitchFamily="34" charset="-122"/>
                          <a:cs typeface="Noto Sans CJK JP" pitchFamily="34" charset="-120"/>
                        </a:rPr>
                        <a:t>ABI / events</a:t>
                      </a:r>
                      <a:endParaRPr lang="en-US" sz="1250" dirty="0">
                        <a:latin typeface="Noto Sans CJK JP" charset="0"/>
                        <a:ea typeface="Noto Sans CJK JP" charset="0"/>
                        <a:cs typeface="Noto Sans CJK JP" charset="0"/>
                      </a:endParaRPr>
                    </a:p>
                    <a:p>
                      <a:pPr indent="0" marL="0">
                        <a:buNone/>
                      </a:pPr>
                      <a:r>
                        <a:rPr lang="en-US" sz="1250" dirty="0">
                          <a:solidFill>
                            <a:srgbClr val="153C38"/>
                          </a:solidFill>
                          <a:latin typeface="Noto Sans CJK JP" pitchFamily="34" charset="0"/>
                          <a:ea typeface="Noto Sans CJK JP" pitchFamily="34" charset="-122"/>
                          <a:cs typeface="Noto Sans CJK JP" pitchFamily="34" charset="-120"/>
                        </a:rPr>
                        <a:t>Chain state / successful receipts</a:t>
                      </a:r>
                      <a:endParaRPr lang="en-US" sz="1250" dirty="0">
                        <a:latin typeface="Noto Sans CJK JP" charset="0"/>
                        <a:ea typeface="Noto Sans CJK JP" charset="0"/>
                        <a:cs typeface="Noto Sans CJK JP" charset="0"/>
                      </a:endParaRPr>
                    </a:p>
                  </a:txBody>
                  <a:tcPr marL="54864" marR="54864" marT="54864" marB="54864" anchor="mid">
                    <a:lnL w="7620" cap="flat" cmpd="sng" algn="ctr">
                      <a:solidFill>
                        <a:srgbClr val="CBD8CE"/>
                      </a:solidFill>
                      <a:prstDash val="solid"/>
                      <a:round/>
                      <a:headEnd type="none" w="med" len="med"/>
                      <a:tailEnd type="none" w="med" len="med"/>
                    </a:lnL>
                    <a:lnR w="7620" cap="flat" cmpd="sng" algn="ctr">
                      <a:solidFill>
                        <a:srgbClr val="CBD8CE"/>
                      </a:solidFill>
                      <a:prstDash val="solid"/>
                      <a:round/>
                      <a:headEnd type="none" w="med" len="med"/>
                      <a:tailEnd type="none" w="med" len="med"/>
                    </a:lnR>
                    <a:lnT w="7620" cap="flat" cmpd="sng" algn="ctr">
                      <a:solidFill>
                        <a:srgbClr val="CBD8CE"/>
                      </a:solidFill>
                      <a:prstDash val="solid"/>
                      <a:round/>
                      <a:headEnd type="none" w="med" len="med"/>
                      <a:tailEnd type="none" w="med" len="med"/>
                    </a:lnT>
                    <a:lnB w="7620" cap="flat" cmpd="sng" algn="ctr">
                      <a:solidFill>
                        <a:srgbClr val="CBD8CE"/>
                      </a:solidFill>
                      <a:prstDash val="solid"/>
                      <a:round/>
                      <a:headEnd type="none" w="med" len="med"/>
                      <a:tailEnd type="none" w="med" len="med"/>
                    </a:lnB>
                    <a:solidFill>
                      <a:srgbClr val="F4F6EF"/>
                    </a:solidFill>
                  </a:tcPr>
                </a:tc>
              </a:tr>
            </a:tbl>
          </a:graphicData>
        </a:graphic>
      </p:graphicFrame>
      <p:sp>
        <p:nvSpPr>
          <p:cNvPr id="5" name="Shape 2"/>
          <p:cNvSpPr/>
          <p:nvPr/>
        </p:nvSpPr>
        <p:spPr>
          <a:xfrm>
            <a:off x="548640" y="5788152"/>
            <a:ext cx="11064240" cy="429768"/>
          </a:xfrm>
          <a:prstGeom prst="rect">
            <a:avLst/>
          </a:prstGeom>
          <a:solidFill>
            <a:srgbClr val="E4ECE1"/>
          </a:solidFill>
          <a:ln w="12700">
            <a:solidFill>
              <a:srgbClr val="E4ECE1"/>
            </a:solidFill>
            <a:prstDash val="solid"/>
          </a:ln>
        </p:spPr>
      </p:sp>
      <p:sp>
        <p:nvSpPr>
          <p:cNvPr id="6" name="Text 3"/>
          <p:cNvSpPr/>
          <p:nvPr/>
        </p:nvSpPr>
        <p:spPr>
          <a:xfrm>
            <a:off x="749808" y="5852160"/>
            <a:ext cx="10661904" cy="256032"/>
          </a:xfrm>
          <a:prstGeom prst="rect">
            <a:avLst/>
          </a:prstGeom>
          <a:noFill/>
          <a:ln/>
        </p:spPr>
        <p:txBody>
          <a:bodyPr wrap="square" lIns="0" tIns="0" rIns="0" bIns="0" rtlCol="0" anchor="ctr"/>
          <a:lstStyle/>
          <a:p>
            <a:pPr indent="0" marL="0">
              <a:buNone/>
            </a:pPr>
            <a:r>
              <a:rPr lang="en-US" sz="1050" dirty="0">
                <a:solidFill>
                  <a:srgbClr val="244D43"/>
                </a:solidFill>
              </a:rPr>
              <a:t>Shared types: a TypeScript proposal. Policies stay in browser/local storage. Full-neuron computation does not run in Workers.</a:t>
            </a:r>
            <a:endParaRPr lang="en-US" sz="1050" dirty="0"/>
          </a:p>
        </p:txBody>
      </p:sp>
      <p:sp>
        <p:nvSpPr>
          <p:cNvPr id="7" name="Text 4"/>
          <p:cNvSpPr/>
          <p:nvPr/>
        </p:nvSpPr>
        <p:spPr>
          <a:xfrm>
            <a:off x="548640" y="6364224"/>
            <a:ext cx="11064240" cy="201168"/>
          </a:xfrm>
          <a:prstGeom prst="rect">
            <a:avLst/>
          </a:prstGeom>
          <a:noFill/>
          <a:ln/>
        </p:spPr>
        <p:txBody>
          <a:bodyPr wrap="square" lIns="0" tIns="0" rIns="0" bIns="0" rtlCol="0" anchor="ctr"/>
          <a:lstStyle/>
          <a:p>
            <a:pPr indent="0" marL="0">
              <a:buNone/>
            </a:pPr>
            <a:r>
              <a:rPr lang="en-US" sz="1000" dirty="0">
                <a:solidFill>
                  <a:srgbClr val="607B70"/>
                </a:solidFill>
              </a:rPr>
              <a:t>7 / 7    ·    Appendix for Q&amp;A    ·    2026-09-26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CJK JP"/>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JP"/>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BioAgent | From purpose to demo</dc:title>
  <dc:subject>Build a framework for running biologically derived decision models on onchain inputs, adapting from experience, and comparing their effectiveness and resource use.</dc:subject>
  <dc:creator>BioAgent</dc:creator>
  <cp:lastModifiedBy>BioAgent</cp:lastModifiedBy>
  <cp:revision>1</cp:revision>
  <dcterms:created xsi:type="dcterms:W3CDTF">2026-09-26T11:12:31Z</dcterms:created>
  <dcterms:modified xsi:type="dcterms:W3CDTF">2026-09-26T11:12:31Z</dcterms:modified>
</cp:coreProperties>
</file>