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biological decision models usable and testable
Lead with the intended improvement: the cost of routine decisions and repeated integration work. Reuse input validation and model/learning descriptions. Developer-time savings have not been measured.
A roughly one-minute script: We are building a framework for using biological decision models in applications and testing whether learning helps. First, we record the environment, including hazards, in a transaction. A confirmed stimulus then adds food, and the agent chooses movement or rest. Learning replays that environment and experience, adopting an improved candidate. The demo lets us trace inputs, decisions and learning. A separate controlled experiment improved reward, but did not establish a biological advantage. Next, we will compare the same task against small AI models, measuring adaptation speed and resource use.
Sources: docs/submission/sepolia-evidence.json; presenter-kit/capture-evidence.json; docs/research/bioagent-adaptation/README.md. Timing is a suggested pace, not measured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the environment and stimuli in TXs
The owner initializes the environment. Workers checks hourly and sends to Agent #1 at least one hour apart. Show recorded TXs within a minute. Registration, zero stimulus, duplicates and failed TXs add no food.
A roughly one-minute script: We are building a framework for using biological decision models in applications and testing whether learning helps. First, we record the environment, including hazards, in a transaction. A confirmed stimulus then adds food, and the agent chooses movement or rest. Learning replays that environment and experience, adopting an improved candidate. The demo lets us trace inputs, decisions and learning. A separate controlled experiment improved reward, but did not establish a biological advantage. Next, we will compare the same task against small AI models, measuring adaptation speed and resource use.
Sources: docs/submission/sepolia-evidence.json; presenter-kit/capture-evidence.json; docs/research/bioagent-adaptation/README.md. Timing is a suggested pace, not measured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confirmed world into movement or rest
Measured wiring supplies the topology; dynamics and sensory/motor mappings are engineered. Consumed food disappears. Clicking selects an agent; it does not create food.
A roughly one-minute script: We are building a framework for using biological decision models in applications and testing whether learning helps. First, we record the environment, including hazards, in a transaction. A confirmed stimulus then adds food, and the agent chooses movement or rest. Learning replays that environment and experience, adopting an improved candidate. The demo lets us trace inputs, decisions and learning. A separate controlled experiment improved reward, but did not establish a biological advantage. Next, we will compare the same task against small AI models, measuring adaptation speed and resource use.
Sources: docs/submission/sepolia-evidence.json; presenter-kit/capture-evidence.json; docs/research/bioagent-adaptation/README.md. Timing is a suggested pace, not measured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 experience and compare the candidate
The wiring stays fixed. Training copies never add visible food. Recovery on returning from training is not a learned improvement. The full-market video uses separate online readout updates, without this adoption gate.
A roughly one-minute script: We are building a framework for using biological decision models in applications and testing whether learning helps. First, we record the environment, including hazards, in a transaction. A confirmed stimulus then adds food, and the agent chooses movement or rest. Learning replays that environment and experience, adopting an improved candidate. The demo lets us trace inputs, decisions and learning. A separate controlled experiment improved reward, but did not establish a biological advantage. Next, we will compare the same task against small AI models, measuring adaptation speed and resource use.
Sources: docs/submission/sepolia-evidence.json; presenter-kit/capture-evidence.json; docs/research/bioagent-adaptation/README.md. Timing is a suggested pace, not measured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working integration from improved behavior
These are saved observations from three different tracks. Research used five search seeds and 60 unseen worlds per profile; final body energy also fell. The video predates the environment-TX implementation.
A roughly one-minute script: We are building a framework for using biological decision models in applications and testing whether learning helps. First, we record the environment, including hazards, in a transaction. A confirmed stimulus then adds food, and the agent chooses movement or rest. Learning replays that environment and experience, adopting an improved candidate. The demo lets us trace inputs, decisions and learning. A separate controlled experiment improved reward, but did not establish a biological advantage. Next, we will compare the same task against small AI models, measuring adaptation speed and resource use.
Sources: docs/submission/sepolia-evidence.json; presenter-kit/capture-evidence.json; docs/research/bioagent-adaptation/README.md. Timing is a suggested pace, not measured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useful decisions within a small budget
The current market uses custom FlyV3Router and V3 core, not Universal Router or Trading API. Savings would accrue to agent operators. User growth, protocol revenue and energy savings have not been measured.
A roughly one-minute script: We are building a framework for using biological decision models in applications and testing whether learning helps. First, we record the environment, including hazards, in a transaction. A confirmed stimulus then adds food, and the agent chooses movement or rest. Learning replays that environment and experience, adopting an improved candidate. The demo lets us trace inputs, decisions and learning. A separate controlled experiment improved reward, but did not establish a biological advantage. Next, we will compare the same task against small AI models, measuring adaptation speed and resource use.
Sources: docs/submission/sepolia-evidence.json; presenter-kit/capture-evidence.json; docs/research/bioagent-adaptation/README.md. Timing is a suggested pace, not measured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E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dirty="0">
                <a:solidFill>
                  <a:srgbClr val="26735F"/>
                </a:solidFill>
              </a:rPr>
              <a:t>BIOAGENT  /  PURPOSE</a:t>
            </a:r>
            <a:endParaRPr lang="en-US" sz="1200" dirty="0"/>
          </a:p>
        </p:txBody>
      </p:sp>
      <p:sp>
        <p:nvSpPr>
          <p:cNvPr id="3" name="Text 1"/>
          <p:cNvSpPr/>
          <p:nvPr/>
        </p:nvSpPr>
        <p:spPr>
          <a:xfrm>
            <a:off x="548640" y="987552"/>
            <a:ext cx="11064240" cy="1005840"/>
          </a:xfrm>
          <a:prstGeom prst="rect">
            <a:avLst/>
          </a:prstGeom>
          <a:noFill/>
          <a:ln/>
        </p:spPr>
        <p:txBody>
          <a:bodyPr wrap="square" lIns="0" tIns="0" rIns="0" bIns="0" rtlCol="0" anchor="ctr"/>
          <a:lstStyle/>
          <a:p>
            <a:pPr indent="0" marL="0">
              <a:buNone/>
            </a:pPr>
            <a:r>
              <a:rPr lang="en-US" sz="3100" b="1" dirty="0">
                <a:solidFill>
                  <a:srgbClr val="153C38"/>
                </a:solidFill>
              </a:rPr>
              <a:t>Make biological decision models usable and testable</a:t>
            </a:r>
            <a:endParaRPr lang="en-US" sz="3100" dirty="0"/>
          </a:p>
        </p:txBody>
      </p:sp>
      <p:sp>
        <p:nvSpPr>
          <p:cNvPr id="4" name="Shape 2"/>
          <p:cNvSpPr/>
          <p:nvPr/>
        </p:nvSpPr>
        <p:spPr>
          <a:xfrm>
            <a:off x="548640" y="2423160"/>
            <a:ext cx="54864" cy="484632"/>
          </a:xfrm>
          <a:prstGeom prst="rect">
            <a:avLst/>
          </a:prstGeom>
          <a:solidFill>
            <a:srgbClr val="26735F"/>
          </a:solidFill>
          <a:ln w="12700">
            <a:solidFill>
              <a:srgbClr val="26735F"/>
            </a:solidFill>
            <a:prstDash val="solid"/>
          </a:ln>
        </p:spPr>
      </p:sp>
      <p:sp>
        <p:nvSpPr>
          <p:cNvPr id="5" name="Text 3"/>
          <p:cNvSpPr/>
          <p:nvPr/>
        </p:nvSpPr>
        <p:spPr>
          <a:xfrm>
            <a:off x="795528" y="235000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For agent developers and researchers</a:t>
            </a:r>
            <a:endParaRPr lang="en-US" sz="2000" dirty="0"/>
          </a:p>
        </p:txBody>
      </p:sp>
      <p:sp>
        <p:nvSpPr>
          <p:cNvPr id="6" name="Shape 4"/>
          <p:cNvSpPr/>
          <p:nvPr/>
        </p:nvSpPr>
        <p:spPr>
          <a:xfrm>
            <a:off x="548640" y="3200400"/>
            <a:ext cx="54864" cy="484632"/>
          </a:xfrm>
          <a:prstGeom prst="rect">
            <a:avLst/>
          </a:prstGeom>
          <a:solidFill>
            <a:srgbClr val="26735F"/>
          </a:solidFill>
          <a:ln w="12700">
            <a:solidFill>
              <a:srgbClr val="26735F"/>
            </a:solidFill>
            <a:prstDash val="solid"/>
          </a:ln>
        </p:spPr>
      </p:sp>
      <p:sp>
        <p:nvSpPr>
          <p:cNvPr id="7" name="Text 5"/>
          <p:cNvSpPr/>
          <p:nvPr/>
        </p:nvSpPr>
        <p:spPr>
          <a:xfrm>
            <a:off x="795528" y="312724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Aim: economical repeated decisions and adaptation</a:t>
            </a:r>
            <a:endParaRPr lang="en-US" sz="2000" dirty="0"/>
          </a:p>
        </p:txBody>
      </p:sp>
      <p:sp>
        <p:nvSpPr>
          <p:cNvPr id="8" name="Shape 6"/>
          <p:cNvSpPr/>
          <p:nvPr/>
        </p:nvSpPr>
        <p:spPr>
          <a:xfrm>
            <a:off x="548640" y="3977640"/>
            <a:ext cx="54864" cy="484632"/>
          </a:xfrm>
          <a:prstGeom prst="rect">
            <a:avLst/>
          </a:prstGeom>
          <a:solidFill>
            <a:srgbClr val="26735F"/>
          </a:solidFill>
          <a:ln w="12700">
            <a:solidFill>
              <a:srgbClr val="26735F"/>
            </a:solidFill>
            <a:prstDash val="solid"/>
          </a:ln>
        </p:spPr>
      </p:sp>
      <p:sp>
        <p:nvSpPr>
          <p:cNvPr id="9" name="Text 7"/>
          <p:cNvSpPr/>
          <p:nvPr/>
        </p:nvSpPr>
        <p:spPr>
          <a:xfrm>
            <a:off x="795528" y="390448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Built: traceable inputs, models and learning results</a:t>
            </a:r>
            <a:endParaRPr lang="en-US" sz="2000" dirty="0"/>
          </a:p>
        </p:txBody>
      </p:sp>
      <p:sp>
        <p:nvSpPr>
          <p:cNvPr id="10" name="Shape 8"/>
          <p:cNvSpPr/>
          <p:nvPr/>
        </p:nvSpPr>
        <p:spPr>
          <a:xfrm>
            <a:off x="548640" y="5157216"/>
            <a:ext cx="11064240" cy="804672"/>
          </a:xfrm>
          <a:prstGeom prst="rect">
            <a:avLst/>
          </a:prstGeom>
          <a:solidFill>
            <a:srgbClr val="E4ECE1"/>
          </a:solidFill>
          <a:ln w="12700">
            <a:solidFill>
              <a:srgbClr val="E4ECE1"/>
            </a:solidFill>
            <a:prstDash val="solid"/>
          </a:ln>
        </p:spPr>
      </p:sp>
      <p:sp>
        <p:nvSpPr>
          <p:cNvPr id="11" name="Text 9"/>
          <p:cNvSpPr/>
          <p:nvPr/>
        </p:nvSpPr>
        <p:spPr>
          <a:xfrm>
            <a:off x="749808" y="5321808"/>
            <a:ext cx="10661904" cy="438912"/>
          </a:xfrm>
          <a:prstGeom prst="rect">
            <a:avLst/>
          </a:prstGeom>
          <a:noFill/>
          <a:ln/>
        </p:spPr>
        <p:txBody>
          <a:bodyPr wrap="square" lIns="0" tIns="0" rIns="0" bIns="0" rtlCol="0" anchor="ctr"/>
          <a:lstStyle/>
          <a:p>
            <a:pPr indent="0" marL="0">
              <a:buNone/>
            </a:pPr>
            <a:r>
              <a:rPr lang="en-US" sz="1500" dirty="0">
                <a:solidFill>
                  <a:srgbClr val="244D43"/>
                </a:solidFill>
              </a:rPr>
              <a:t>Lower power and an advantage over ordinary AI remain hypotheses.</a:t>
            </a:r>
            <a:endParaRPr lang="en-US" sz="1500" dirty="0"/>
          </a:p>
        </p:txBody>
      </p:sp>
      <p:sp>
        <p:nvSpPr>
          <p:cNvPr id="12" name="Text 10"/>
          <p:cNvSpPr/>
          <p:nvPr/>
        </p:nvSpPr>
        <p:spPr>
          <a:xfrm>
            <a:off x="548640" y="6364224"/>
            <a:ext cx="11064240" cy="201168"/>
          </a:xfrm>
          <a:prstGeom prst="rect">
            <a:avLst/>
          </a:prstGeom>
          <a:noFill/>
          <a:ln/>
        </p:spPr>
        <p:txBody>
          <a:bodyPr wrap="square" lIns="0" tIns="0" rIns="0" bIns="0" rtlCol="0" anchor="ctr"/>
          <a:lstStyle/>
          <a:p>
            <a:pPr indent="0" marL="0">
              <a:buNone/>
            </a:pPr>
            <a:r>
              <a:rPr lang="en-US" sz="1000" dirty="0">
                <a:solidFill>
                  <a:srgbClr val="607B70"/>
                </a:solidFill>
              </a:rPr>
              <a:t>1 / 6    ·    0–10s    ·    2026-09-26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E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dirty="0">
                <a:solidFill>
                  <a:srgbClr val="26735F"/>
                </a:solidFill>
              </a:rPr>
              <a:t>BIOAGENT  /  STEP 1 · INPUT</a:t>
            </a:r>
            <a:endParaRPr lang="en-US" sz="1200" dirty="0"/>
          </a:p>
        </p:txBody>
      </p:sp>
      <p:sp>
        <p:nvSpPr>
          <p:cNvPr id="3" name="Text 1"/>
          <p:cNvSpPr/>
          <p:nvPr/>
        </p:nvSpPr>
        <p:spPr>
          <a:xfrm>
            <a:off x="548640" y="987552"/>
            <a:ext cx="11064240" cy="1005840"/>
          </a:xfrm>
          <a:prstGeom prst="rect">
            <a:avLst/>
          </a:prstGeom>
          <a:noFill/>
          <a:ln/>
        </p:spPr>
        <p:txBody>
          <a:bodyPr wrap="square" lIns="0" tIns="0" rIns="0" bIns="0" rtlCol="0" anchor="ctr"/>
          <a:lstStyle/>
          <a:p>
            <a:pPr indent="0" marL="0">
              <a:buNone/>
            </a:pPr>
            <a:r>
              <a:rPr lang="en-US" sz="3100" b="1" dirty="0">
                <a:solidFill>
                  <a:srgbClr val="153C38"/>
                </a:solidFill>
              </a:rPr>
              <a:t>Record the environment and stimuli in TXs</a:t>
            </a:r>
            <a:endParaRPr lang="en-US" sz="3100" dirty="0"/>
          </a:p>
        </p:txBody>
      </p:sp>
      <p:sp>
        <p:nvSpPr>
          <p:cNvPr id="4" name="Shape 2"/>
          <p:cNvSpPr/>
          <p:nvPr/>
        </p:nvSpPr>
        <p:spPr>
          <a:xfrm>
            <a:off x="548640" y="2423160"/>
            <a:ext cx="54864" cy="484632"/>
          </a:xfrm>
          <a:prstGeom prst="rect">
            <a:avLst/>
          </a:prstGeom>
          <a:solidFill>
            <a:srgbClr val="26735F"/>
          </a:solidFill>
          <a:ln w="12700">
            <a:solidFill>
              <a:srgbClr val="26735F"/>
            </a:solidFill>
            <a:prstDash val="solid"/>
          </a:ln>
        </p:spPr>
      </p:sp>
      <p:sp>
        <p:nvSpPr>
          <p:cNvPr id="5" name="Text 3"/>
          <p:cNvSpPr/>
          <p:nvPr/>
        </p:nvSpPr>
        <p:spPr>
          <a:xfrm>
            <a:off x="795528" y="235000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Initial TX: dimensions, seed and hazards</a:t>
            </a:r>
            <a:endParaRPr lang="en-US" sz="2000" dirty="0"/>
          </a:p>
        </p:txBody>
      </p:sp>
      <p:sp>
        <p:nvSpPr>
          <p:cNvPr id="6" name="Shape 4"/>
          <p:cNvSpPr/>
          <p:nvPr/>
        </p:nvSpPr>
        <p:spPr>
          <a:xfrm>
            <a:off x="548640" y="3200400"/>
            <a:ext cx="54864" cy="484632"/>
          </a:xfrm>
          <a:prstGeom prst="rect">
            <a:avLst/>
          </a:prstGeom>
          <a:solidFill>
            <a:srgbClr val="26735F"/>
          </a:solidFill>
          <a:ln w="12700">
            <a:solidFill>
              <a:srgbClr val="26735F"/>
            </a:solidFill>
            <a:prstDash val="solid"/>
          </a:ln>
        </p:spPr>
      </p:sp>
      <p:sp>
        <p:nvSpPr>
          <p:cNvPr id="7" name="Text 5"/>
          <p:cNvSpPr/>
          <p:nvPr/>
        </p:nvSpPr>
        <p:spPr>
          <a:xfrm>
            <a:off x="795528" y="312724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Stimulus TX: one confirmed positive input adds one food</a:t>
            </a:r>
            <a:endParaRPr lang="en-US" sz="2000" dirty="0"/>
          </a:p>
        </p:txBody>
      </p:sp>
      <p:sp>
        <p:nvSpPr>
          <p:cNvPr id="8" name="Shape 6"/>
          <p:cNvSpPr/>
          <p:nvPr/>
        </p:nvSpPr>
        <p:spPr>
          <a:xfrm>
            <a:off x="548640" y="3977640"/>
            <a:ext cx="54864" cy="484632"/>
          </a:xfrm>
          <a:prstGeom prst="rect">
            <a:avLst/>
          </a:prstGeom>
          <a:solidFill>
            <a:srgbClr val="26735F"/>
          </a:solidFill>
          <a:ln w="12700">
            <a:solidFill>
              <a:srgbClr val="26735F"/>
            </a:solidFill>
            <a:prstDash val="solid"/>
          </a:ln>
        </p:spPr>
      </p:sp>
      <p:sp>
        <p:nvSpPr>
          <p:cNvPr id="9" name="Text 7"/>
          <p:cNvSpPr/>
          <p:nvPr/>
        </p:nvSpPr>
        <p:spPr>
          <a:xfrm>
            <a:off x="795528" y="390448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Open the environment and food source TXs on screen</a:t>
            </a:r>
            <a:endParaRPr lang="en-US" sz="2000" dirty="0"/>
          </a:p>
        </p:txBody>
      </p:sp>
      <p:sp>
        <p:nvSpPr>
          <p:cNvPr id="10" name="Shape 8"/>
          <p:cNvSpPr/>
          <p:nvPr/>
        </p:nvSpPr>
        <p:spPr>
          <a:xfrm>
            <a:off x="548640" y="5157216"/>
            <a:ext cx="11064240" cy="804672"/>
          </a:xfrm>
          <a:prstGeom prst="rect">
            <a:avLst/>
          </a:prstGeom>
          <a:solidFill>
            <a:srgbClr val="E4ECE1"/>
          </a:solidFill>
          <a:ln w="12700">
            <a:solidFill>
              <a:srgbClr val="E4ECE1"/>
            </a:solidFill>
            <a:prstDash val="solid"/>
          </a:ln>
        </p:spPr>
      </p:sp>
      <p:sp>
        <p:nvSpPr>
          <p:cNvPr id="11" name="Text 9"/>
          <p:cNvSpPr/>
          <p:nvPr/>
        </p:nvSpPr>
        <p:spPr>
          <a:xfrm>
            <a:off x="749808" y="5321808"/>
            <a:ext cx="10661904" cy="438912"/>
          </a:xfrm>
          <a:prstGeom prst="rect">
            <a:avLst/>
          </a:prstGeom>
          <a:noFill/>
          <a:ln/>
        </p:spPr>
        <p:txBody>
          <a:bodyPr wrap="square" lIns="0" tIns="0" rIns="0" bIns="0" rtlCol="0" anchor="ctr"/>
          <a:lstStyle/>
          <a:p>
            <a:pPr indent="0" marL="0">
              <a:buNone/>
            </a:pPr>
            <a:r>
              <a:rPr lang="en-US" sz="1500" dirty="0">
                <a:solidFill>
                  <a:srgbClr val="244D43"/>
                </a:solidFill>
              </a:rPr>
              <a:t>All external inputs to the flies come from onchain data.</a:t>
            </a:r>
            <a:endParaRPr lang="en-US" sz="1500" dirty="0"/>
          </a:p>
        </p:txBody>
      </p:sp>
      <p:sp>
        <p:nvSpPr>
          <p:cNvPr id="12" name="Text 10"/>
          <p:cNvSpPr/>
          <p:nvPr/>
        </p:nvSpPr>
        <p:spPr>
          <a:xfrm>
            <a:off x="548640" y="6364224"/>
            <a:ext cx="11064240" cy="201168"/>
          </a:xfrm>
          <a:prstGeom prst="rect">
            <a:avLst/>
          </a:prstGeom>
          <a:noFill/>
          <a:ln/>
        </p:spPr>
        <p:txBody>
          <a:bodyPr wrap="square" lIns="0" tIns="0" rIns="0" bIns="0" rtlCol="0" anchor="ctr"/>
          <a:lstStyle/>
          <a:p>
            <a:pPr indent="0" marL="0">
              <a:buNone/>
            </a:pPr>
            <a:r>
              <a:rPr lang="en-US" sz="1000" dirty="0">
                <a:solidFill>
                  <a:srgbClr val="607B70"/>
                </a:solidFill>
              </a:rPr>
              <a:t>2 / 6    ·    10–20s    ·    2026-09-26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E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dirty="0">
                <a:solidFill>
                  <a:srgbClr val="26735F"/>
                </a:solidFill>
              </a:rPr>
              <a:t>BIOAGENT  /  STEP 2 · DECISION</a:t>
            </a:r>
            <a:endParaRPr lang="en-US" sz="1200" dirty="0"/>
          </a:p>
        </p:txBody>
      </p:sp>
      <p:sp>
        <p:nvSpPr>
          <p:cNvPr id="3" name="Text 1"/>
          <p:cNvSpPr/>
          <p:nvPr/>
        </p:nvSpPr>
        <p:spPr>
          <a:xfrm>
            <a:off x="548640" y="987552"/>
            <a:ext cx="11064240" cy="1005840"/>
          </a:xfrm>
          <a:prstGeom prst="rect">
            <a:avLst/>
          </a:prstGeom>
          <a:noFill/>
          <a:ln/>
        </p:spPr>
        <p:txBody>
          <a:bodyPr wrap="square" lIns="0" tIns="0" rIns="0" bIns="0" rtlCol="0" anchor="ctr"/>
          <a:lstStyle/>
          <a:p>
            <a:pPr indent="0" marL="0">
              <a:buNone/>
            </a:pPr>
            <a:r>
              <a:rPr lang="en-US" sz="3100" b="1" dirty="0">
                <a:solidFill>
                  <a:srgbClr val="153C38"/>
                </a:solidFill>
              </a:rPr>
              <a:t>Turn the confirmed world into movement or rest</a:t>
            </a:r>
            <a:endParaRPr lang="en-US" sz="3100" dirty="0"/>
          </a:p>
        </p:txBody>
      </p:sp>
      <p:sp>
        <p:nvSpPr>
          <p:cNvPr id="4" name="Shape 2"/>
          <p:cNvSpPr/>
          <p:nvPr/>
        </p:nvSpPr>
        <p:spPr>
          <a:xfrm>
            <a:off x="548640" y="2423160"/>
            <a:ext cx="54864" cy="484632"/>
          </a:xfrm>
          <a:prstGeom prst="rect">
            <a:avLst/>
          </a:prstGeom>
          <a:solidFill>
            <a:srgbClr val="26735F"/>
          </a:solidFill>
          <a:ln w="12700">
            <a:solidFill>
              <a:srgbClr val="26735F"/>
            </a:solidFill>
            <a:prstDash val="solid"/>
          </a:ln>
        </p:spPr>
      </p:sp>
      <p:sp>
        <p:nvSpPr>
          <p:cNvPr id="5" name="Text 3"/>
          <p:cNvSpPr/>
          <p:nvPr/>
        </p:nvSpPr>
        <p:spPr>
          <a:xfrm>
            <a:off x="795528" y="235000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Verify TXs and events before applying inputs</a:t>
            </a:r>
            <a:endParaRPr lang="en-US" sz="2000" dirty="0"/>
          </a:p>
        </p:txBody>
      </p:sp>
      <p:sp>
        <p:nvSpPr>
          <p:cNvPr id="6" name="Shape 4"/>
          <p:cNvSpPr/>
          <p:nvPr/>
        </p:nvSpPr>
        <p:spPr>
          <a:xfrm>
            <a:off x="548640" y="3200400"/>
            <a:ext cx="54864" cy="484632"/>
          </a:xfrm>
          <a:prstGeom prst="rect">
            <a:avLst/>
          </a:prstGeom>
          <a:solidFill>
            <a:srgbClr val="26735F"/>
          </a:solidFill>
          <a:ln w="12700">
            <a:solidFill>
              <a:srgbClr val="26735F"/>
            </a:solidFill>
            <a:prstDash val="solid"/>
          </a:ln>
        </p:spPr>
      </p:sp>
      <p:sp>
        <p:nvSpPr>
          <p:cNvPr id="7" name="Text 5"/>
          <p:cNvSpPr/>
          <p:nvPr/>
        </p:nvSpPr>
        <p:spPr>
          <a:xfrm>
            <a:off x="795528" y="312724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Encode the environment and internal body state</a:t>
            </a:r>
            <a:endParaRPr lang="en-US" sz="2000" dirty="0"/>
          </a:p>
        </p:txBody>
      </p:sp>
      <p:sp>
        <p:nvSpPr>
          <p:cNvPr id="8" name="Shape 6"/>
          <p:cNvSpPr/>
          <p:nvPr/>
        </p:nvSpPr>
        <p:spPr>
          <a:xfrm>
            <a:off x="548640" y="3977640"/>
            <a:ext cx="54864" cy="484632"/>
          </a:xfrm>
          <a:prstGeom prst="rect">
            <a:avLst/>
          </a:prstGeom>
          <a:solidFill>
            <a:srgbClr val="26735F"/>
          </a:solidFill>
          <a:ln w="12700">
            <a:solidFill>
              <a:srgbClr val="26735F"/>
            </a:solidFill>
            <a:prstDash val="solid"/>
          </a:ln>
        </p:spPr>
      </p:sp>
      <p:sp>
        <p:nvSpPr>
          <p:cNvPr id="9" name="Text 7"/>
          <p:cNvSpPr/>
          <p:nvPr/>
        </p:nvSpPr>
        <p:spPr>
          <a:xfrm>
            <a:off x="795528" y="390448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7 measured neurons, 19 connections → action → outcome</a:t>
            </a:r>
            <a:endParaRPr lang="en-US" sz="2000" dirty="0"/>
          </a:p>
        </p:txBody>
      </p:sp>
      <p:sp>
        <p:nvSpPr>
          <p:cNvPr id="10" name="Shape 8"/>
          <p:cNvSpPr/>
          <p:nvPr/>
        </p:nvSpPr>
        <p:spPr>
          <a:xfrm>
            <a:off x="548640" y="5157216"/>
            <a:ext cx="11064240" cy="804672"/>
          </a:xfrm>
          <a:prstGeom prst="rect">
            <a:avLst/>
          </a:prstGeom>
          <a:solidFill>
            <a:srgbClr val="E4ECE1"/>
          </a:solidFill>
          <a:ln w="12700">
            <a:solidFill>
              <a:srgbClr val="E4ECE1"/>
            </a:solidFill>
            <a:prstDash val="solid"/>
          </a:ln>
        </p:spPr>
      </p:sp>
      <p:sp>
        <p:nvSpPr>
          <p:cNvPr id="11" name="Text 9"/>
          <p:cNvSpPr/>
          <p:nvPr/>
        </p:nvSpPr>
        <p:spPr>
          <a:xfrm>
            <a:off x="749808" y="5321808"/>
            <a:ext cx="10661904" cy="438912"/>
          </a:xfrm>
          <a:prstGeom prst="rect">
            <a:avLst/>
          </a:prstGeom>
          <a:noFill/>
          <a:ln/>
        </p:spPr>
        <p:txBody>
          <a:bodyPr wrap="square" lIns="0" tIns="0" rIns="0" bIns="0" rtlCol="0" anchor="ctr"/>
          <a:lstStyle/>
          <a:p>
            <a:pPr indent="0" marL="0">
              <a:buNone/>
            </a:pPr>
            <a:r>
              <a:rPr lang="en-US" sz="1500" dirty="0">
                <a:solidFill>
                  <a:srgbClr val="244D43"/>
                </a:solidFill>
              </a:rPr>
              <a:t>Encoding, body state, decisions and rendering run offchain.</a:t>
            </a:r>
            <a:endParaRPr lang="en-US" sz="1500" dirty="0"/>
          </a:p>
        </p:txBody>
      </p:sp>
      <p:sp>
        <p:nvSpPr>
          <p:cNvPr id="12" name="Text 10"/>
          <p:cNvSpPr/>
          <p:nvPr/>
        </p:nvSpPr>
        <p:spPr>
          <a:xfrm>
            <a:off x="548640" y="6364224"/>
            <a:ext cx="11064240" cy="201168"/>
          </a:xfrm>
          <a:prstGeom prst="rect">
            <a:avLst/>
          </a:prstGeom>
          <a:noFill/>
          <a:ln/>
        </p:spPr>
        <p:txBody>
          <a:bodyPr wrap="square" lIns="0" tIns="0" rIns="0" bIns="0" rtlCol="0" anchor="ctr"/>
          <a:lstStyle/>
          <a:p>
            <a:pPr indent="0" marL="0">
              <a:buNone/>
            </a:pPr>
            <a:r>
              <a:rPr lang="en-US" sz="1000" dirty="0">
                <a:solidFill>
                  <a:srgbClr val="607B70"/>
                </a:solidFill>
              </a:rPr>
              <a:t>3 / 6    ·    20–30s    ·    2026-09-26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E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dirty="0">
                <a:solidFill>
                  <a:srgbClr val="26735F"/>
                </a:solidFill>
              </a:rPr>
              <a:t>BIOAGENT  /  STEP 3 · LEARNING</a:t>
            </a:r>
            <a:endParaRPr lang="en-US" sz="1200" dirty="0"/>
          </a:p>
        </p:txBody>
      </p:sp>
      <p:sp>
        <p:nvSpPr>
          <p:cNvPr id="3" name="Text 1"/>
          <p:cNvSpPr/>
          <p:nvPr/>
        </p:nvSpPr>
        <p:spPr>
          <a:xfrm>
            <a:off x="548640" y="987552"/>
            <a:ext cx="11064240" cy="1005840"/>
          </a:xfrm>
          <a:prstGeom prst="rect">
            <a:avLst/>
          </a:prstGeom>
          <a:noFill/>
          <a:ln/>
        </p:spPr>
        <p:txBody>
          <a:bodyPr wrap="square" lIns="0" tIns="0" rIns="0" bIns="0" rtlCol="0" anchor="ctr"/>
          <a:lstStyle/>
          <a:p>
            <a:pPr indent="0" marL="0">
              <a:buNone/>
            </a:pPr>
            <a:r>
              <a:rPr lang="en-US" sz="3100" b="1" dirty="0">
                <a:solidFill>
                  <a:srgbClr val="153C38"/>
                </a:solidFill>
              </a:rPr>
              <a:t>Replay experience and compare the candidate</a:t>
            </a:r>
            <a:endParaRPr lang="en-US" sz="3100" dirty="0"/>
          </a:p>
        </p:txBody>
      </p:sp>
      <p:sp>
        <p:nvSpPr>
          <p:cNvPr id="4" name="Shape 2"/>
          <p:cNvSpPr/>
          <p:nvPr/>
        </p:nvSpPr>
        <p:spPr>
          <a:xfrm>
            <a:off x="548640" y="2423160"/>
            <a:ext cx="54864" cy="484632"/>
          </a:xfrm>
          <a:prstGeom prst="rect">
            <a:avLst/>
          </a:prstGeom>
          <a:solidFill>
            <a:srgbClr val="26735F"/>
          </a:solidFill>
          <a:ln w="12700">
            <a:solidFill>
              <a:srgbClr val="26735F"/>
            </a:solidFill>
            <a:prstDash val="solid"/>
          </a:ln>
        </p:spPr>
      </p:sp>
      <p:sp>
        <p:nvSpPr>
          <p:cNvPr id="5" name="Text 3"/>
          <p:cNvSpPr/>
          <p:nvPr/>
        </p:nvSpPr>
        <p:spPr>
          <a:xfrm>
            <a:off x="795528" y="235000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Select an agent and “Start learning”</a:t>
            </a:r>
            <a:endParaRPr lang="en-US" sz="2000" dirty="0"/>
          </a:p>
        </p:txBody>
      </p:sp>
      <p:sp>
        <p:nvSpPr>
          <p:cNvPr id="6" name="Shape 4"/>
          <p:cNvSpPr/>
          <p:nvPr/>
        </p:nvSpPr>
        <p:spPr>
          <a:xfrm>
            <a:off x="548640" y="3200400"/>
            <a:ext cx="54864" cy="484632"/>
          </a:xfrm>
          <a:prstGeom prst="rect">
            <a:avLst/>
          </a:prstGeom>
          <a:solidFill>
            <a:srgbClr val="26735F"/>
          </a:solidFill>
          <a:ln w="12700">
            <a:solidFill>
              <a:srgbClr val="26735F"/>
            </a:solidFill>
            <a:prstDash val="solid"/>
          </a:ln>
        </p:spPr>
      </p:sp>
      <p:sp>
        <p:nvSpPr>
          <p:cNvPr id="7" name="Text 5"/>
          <p:cNvSpPr/>
          <p:nvPr/>
        </p:nvSpPr>
        <p:spPr>
          <a:xfrm>
            <a:off x="795528" y="312724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Update Q-values from a confirmed-world copy and experience</a:t>
            </a:r>
            <a:endParaRPr lang="en-US" sz="2000" dirty="0"/>
          </a:p>
        </p:txBody>
      </p:sp>
      <p:sp>
        <p:nvSpPr>
          <p:cNvPr id="8" name="Shape 6"/>
          <p:cNvSpPr/>
          <p:nvPr/>
        </p:nvSpPr>
        <p:spPr>
          <a:xfrm>
            <a:off x="548640" y="3977640"/>
            <a:ext cx="54864" cy="484632"/>
          </a:xfrm>
          <a:prstGeom prst="rect">
            <a:avLst/>
          </a:prstGeom>
          <a:solidFill>
            <a:srgbClr val="26735F"/>
          </a:solidFill>
          <a:ln w="12700">
            <a:solidFill>
              <a:srgbClr val="26735F"/>
            </a:solidFill>
            <a:prstDash val="solid"/>
          </a:ln>
        </p:spPr>
      </p:sp>
      <p:sp>
        <p:nvSpPr>
          <p:cNvPr id="9" name="Text 7"/>
          <p:cNvSpPr/>
          <p:nvPr/>
        </p:nvSpPr>
        <p:spPr>
          <a:xfrm>
            <a:off x="795528" y="390448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Higher comparison score: adopt / Otherwise: keep</a:t>
            </a:r>
            <a:endParaRPr lang="en-US" sz="2000" dirty="0"/>
          </a:p>
        </p:txBody>
      </p:sp>
      <p:sp>
        <p:nvSpPr>
          <p:cNvPr id="10" name="Shape 8"/>
          <p:cNvSpPr/>
          <p:nvPr/>
        </p:nvSpPr>
        <p:spPr>
          <a:xfrm>
            <a:off x="548640" y="5157216"/>
            <a:ext cx="11064240" cy="804672"/>
          </a:xfrm>
          <a:prstGeom prst="rect">
            <a:avLst/>
          </a:prstGeom>
          <a:solidFill>
            <a:srgbClr val="E4ECE1"/>
          </a:solidFill>
          <a:ln w="12700">
            <a:solidFill>
              <a:srgbClr val="E4ECE1"/>
            </a:solidFill>
            <a:prstDash val="solid"/>
          </a:ln>
        </p:spPr>
      </p:sp>
      <p:sp>
        <p:nvSpPr>
          <p:cNvPr id="11" name="Text 9"/>
          <p:cNvSpPr/>
          <p:nvPr/>
        </p:nvSpPr>
        <p:spPr>
          <a:xfrm>
            <a:off x="749808" y="5321808"/>
            <a:ext cx="10661904" cy="438912"/>
          </a:xfrm>
          <a:prstGeom prst="rect">
            <a:avLst/>
          </a:prstGeom>
          <a:noFill/>
          <a:ln/>
        </p:spPr>
        <p:txBody>
          <a:bodyPr wrap="square" lIns="0" tIns="0" rIns="0" bIns="0" rtlCol="0" anchor="ctr"/>
          <a:lstStyle/>
          <a:p>
            <a:pPr indent="0" marL="0">
              <a:buNone/>
            </a:pPr>
            <a:r>
              <a:rPr lang="en-US" sz="1500" dirty="0">
                <a:solidFill>
                  <a:srgbClr val="244D43"/>
                </a:solidFill>
              </a:rPr>
              <a:t>Same-environment replay is separate from unseen-world testing.</a:t>
            </a:r>
            <a:endParaRPr lang="en-US" sz="1500" dirty="0"/>
          </a:p>
        </p:txBody>
      </p:sp>
      <p:sp>
        <p:nvSpPr>
          <p:cNvPr id="12" name="Text 10"/>
          <p:cNvSpPr/>
          <p:nvPr/>
        </p:nvSpPr>
        <p:spPr>
          <a:xfrm>
            <a:off x="548640" y="6364224"/>
            <a:ext cx="11064240" cy="201168"/>
          </a:xfrm>
          <a:prstGeom prst="rect">
            <a:avLst/>
          </a:prstGeom>
          <a:noFill/>
          <a:ln/>
        </p:spPr>
        <p:txBody>
          <a:bodyPr wrap="square" lIns="0" tIns="0" rIns="0" bIns="0" rtlCol="0" anchor="ctr"/>
          <a:lstStyle/>
          <a:p>
            <a:pPr indent="0" marL="0">
              <a:buNone/>
            </a:pPr>
            <a:r>
              <a:rPr lang="en-US" sz="1000" dirty="0">
                <a:solidFill>
                  <a:srgbClr val="607B70"/>
                </a:solidFill>
              </a:rPr>
              <a:t>4 / 6    ·    30–40s    ·    2026-09-26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E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dirty="0">
                <a:solidFill>
                  <a:srgbClr val="26735F"/>
                </a:solidFill>
              </a:rPr>
              <a:t>BIOAGENT  /  STEP 4 · EVIDENCE</a:t>
            </a:r>
            <a:endParaRPr lang="en-US" sz="1200" dirty="0"/>
          </a:p>
        </p:txBody>
      </p:sp>
      <p:sp>
        <p:nvSpPr>
          <p:cNvPr id="3" name="Text 1"/>
          <p:cNvSpPr/>
          <p:nvPr/>
        </p:nvSpPr>
        <p:spPr>
          <a:xfrm>
            <a:off x="548640" y="987552"/>
            <a:ext cx="11064240" cy="1005840"/>
          </a:xfrm>
          <a:prstGeom prst="rect">
            <a:avLst/>
          </a:prstGeom>
          <a:noFill/>
          <a:ln/>
        </p:spPr>
        <p:txBody>
          <a:bodyPr wrap="square" lIns="0" tIns="0" rIns="0" bIns="0" rtlCol="0" anchor="ctr"/>
          <a:lstStyle/>
          <a:p>
            <a:pPr indent="0" marL="0">
              <a:buNone/>
            </a:pPr>
            <a:r>
              <a:rPr lang="en-US" sz="3100" b="1" dirty="0">
                <a:solidFill>
                  <a:srgbClr val="153C38"/>
                </a:solidFill>
              </a:rPr>
              <a:t>Separate working integration from improved behavior</a:t>
            </a:r>
            <a:endParaRPr lang="en-US" sz="3100" dirty="0"/>
          </a:p>
        </p:txBody>
      </p:sp>
      <p:sp>
        <p:nvSpPr>
          <p:cNvPr id="4" name="Shape 2"/>
          <p:cNvSpPr/>
          <p:nvPr/>
        </p:nvSpPr>
        <p:spPr>
          <a:xfrm>
            <a:off x="548640" y="2423160"/>
            <a:ext cx="54864" cy="484632"/>
          </a:xfrm>
          <a:prstGeom prst="rect">
            <a:avLst/>
          </a:prstGeom>
          <a:solidFill>
            <a:srgbClr val="26735F"/>
          </a:solidFill>
          <a:ln w="12700">
            <a:solidFill>
              <a:srgbClr val="26735F"/>
            </a:solidFill>
            <a:prstDash val="solid"/>
          </a:ln>
        </p:spPr>
      </p:sp>
      <p:sp>
        <p:nvSpPr>
          <p:cNvPr id="5" name="Text 3"/>
          <p:cNvSpPr/>
          <p:nvPr/>
        </p:nvSpPr>
        <p:spPr>
          <a:xfrm>
            <a:off x="795528" y="235000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Public: a scheduled TX increased food from 3 to 4</a:t>
            </a:r>
            <a:endParaRPr lang="en-US" sz="2000" dirty="0"/>
          </a:p>
        </p:txBody>
      </p:sp>
      <p:sp>
        <p:nvSpPr>
          <p:cNvPr id="6" name="Shape 4"/>
          <p:cNvSpPr/>
          <p:nvPr/>
        </p:nvSpPr>
        <p:spPr>
          <a:xfrm>
            <a:off x="548640" y="3200400"/>
            <a:ext cx="54864" cy="484632"/>
          </a:xfrm>
          <a:prstGeom prst="rect">
            <a:avLst/>
          </a:prstGeom>
          <a:solidFill>
            <a:srgbClr val="26735F"/>
          </a:solidFill>
          <a:ln w="12700">
            <a:solidFill>
              <a:srgbClr val="26735F"/>
            </a:solidFill>
            <a:prstDash val="solid"/>
          </a:ln>
        </p:spPr>
      </p:sp>
      <p:sp>
        <p:nvSpPr>
          <p:cNvPr id="7" name="Text 5"/>
          <p:cNvSpPr/>
          <p:nvPr/>
        </p:nvSpPr>
        <p:spPr>
          <a:xfrm>
            <a:off x="795528" y="312724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Video: four full agents, 1 Aqua and 11 V3 settlements</a:t>
            </a:r>
            <a:endParaRPr lang="en-US" sz="2000" dirty="0"/>
          </a:p>
        </p:txBody>
      </p:sp>
      <p:sp>
        <p:nvSpPr>
          <p:cNvPr id="8" name="Shape 6"/>
          <p:cNvSpPr/>
          <p:nvPr/>
        </p:nvSpPr>
        <p:spPr>
          <a:xfrm>
            <a:off x="548640" y="3977640"/>
            <a:ext cx="54864" cy="484632"/>
          </a:xfrm>
          <a:prstGeom prst="rect">
            <a:avLst/>
          </a:prstGeom>
          <a:solidFill>
            <a:srgbClr val="26735F"/>
          </a:solidFill>
          <a:ln w="12700">
            <a:solidFill>
              <a:srgbClr val="26735F"/>
            </a:solidFill>
            <a:prstDash val="solid"/>
          </a:ln>
        </p:spPr>
      </p:sp>
      <p:sp>
        <p:nvSpPr>
          <p:cNvPr id="9" name="Text 7"/>
          <p:cNvSpPr/>
          <p:nvPr/>
        </p:nvSpPr>
        <p:spPr>
          <a:xfrm>
            <a:off x="795528" y="390448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Research: reward 18.79 → 56.12; direct-input control 56.08</a:t>
            </a:r>
            <a:endParaRPr lang="en-US" sz="2000" dirty="0"/>
          </a:p>
        </p:txBody>
      </p:sp>
      <p:sp>
        <p:nvSpPr>
          <p:cNvPr id="10" name="Shape 8"/>
          <p:cNvSpPr/>
          <p:nvPr/>
        </p:nvSpPr>
        <p:spPr>
          <a:xfrm>
            <a:off x="548640" y="5157216"/>
            <a:ext cx="11064240" cy="804672"/>
          </a:xfrm>
          <a:prstGeom prst="rect">
            <a:avLst/>
          </a:prstGeom>
          <a:solidFill>
            <a:srgbClr val="E4ECE1"/>
          </a:solidFill>
          <a:ln w="12700">
            <a:solidFill>
              <a:srgbClr val="E4ECE1"/>
            </a:solidFill>
            <a:prstDash val="solid"/>
          </a:ln>
        </p:spPr>
      </p:sp>
      <p:sp>
        <p:nvSpPr>
          <p:cNvPr id="11" name="Text 9"/>
          <p:cNvSpPr/>
          <p:nvPr/>
        </p:nvSpPr>
        <p:spPr>
          <a:xfrm>
            <a:off x="749808" y="5321808"/>
            <a:ext cx="10661904" cy="438912"/>
          </a:xfrm>
          <a:prstGeom prst="rect">
            <a:avLst/>
          </a:prstGeom>
          <a:noFill/>
          <a:ln/>
        </p:spPr>
        <p:txBody>
          <a:bodyPr wrap="square" lIns="0" tIns="0" rIns="0" bIns="0" rtlCol="0" anchor="ctr"/>
          <a:lstStyle/>
          <a:p>
            <a:pPr indent="0" marL="0">
              <a:buNone/>
            </a:pPr>
            <a:r>
              <a:rPr lang="en-US" sz="1500" dirty="0">
                <a:solidFill>
                  <a:srgbClr val="244D43"/>
                </a:solidFill>
              </a:rPr>
              <a:t>Integration and learning work; biological superiority is unproven.</a:t>
            </a:r>
            <a:endParaRPr lang="en-US" sz="1500" dirty="0"/>
          </a:p>
        </p:txBody>
      </p:sp>
      <p:sp>
        <p:nvSpPr>
          <p:cNvPr id="12" name="Text 10"/>
          <p:cNvSpPr/>
          <p:nvPr/>
        </p:nvSpPr>
        <p:spPr>
          <a:xfrm>
            <a:off x="548640" y="6364224"/>
            <a:ext cx="11064240" cy="201168"/>
          </a:xfrm>
          <a:prstGeom prst="rect">
            <a:avLst/>
          </a:prstGeom>
          <a:noFill/>
          <a:ln/>
        </p:spPr>
        <p:txBody>
          <a:bodyPr wrap="square" lIns="0" tIns="0" rIns="0" bIns="0" rtlCol="0" anchor="ctr"/>
          <a:lstStyle/>
          <a:p>
            <a:pPr indent="0" marL="0">
              <a:buNone/>
            </a:pPr>
            <a:r>
              <a:rPr lang="en-US" sz="1000" dirty="0">
                <a:solidFill>
                  <a:srgbClr val="607B70"/>
                </a:solidFill>
              </a:rPr>
              <a:t>5 / 6    ·    40–50s    ·    2026-09-26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E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dirty="0">
                <a:solidFill>
                  <a:srgbClr val="26735F"/>
                </a:solidFill>
              </a:rPr>
              <a:t>BIOAGENT  /  STEP 5 · NEXT TEST</a:t>
            </a:r>
            <a:endParaRPr lang="en-US" sz="1200" dirty="0"/>
          </a:p>
        </p:txBody>
      </p:sp>
      <p:sp>
        <p:nvSpPr>
          <p:cNvPr id="3" name="Text 1"/>
          <p:cNvSpPr/>
          <p:nvPr/>
        </p:nvSpPr>
        <p:spPr>
          <a:xfrm>
            <a:off x="548640" y="987552"/>
            <a:ext cx="11064240" cy="1005840"/>
          </a:xfrm>
          <a:prstGeom prst="rect">
            <a:avLst/>
          </a:prstGeom>
          <a:noFill/>
          <a:ln/>
        </p:spPr>
        <p:txBody>
          <a:bodyPr wrap="square" lIns="0" tIns="0" rIns="0" bIns="0" rtlCol="0" anchor="ctr"/>
          <a:lstStyle/>
          <a:p>
            <a:pPr indent="0" marL="0">
              <a:buNone/>
            </a:pPr>
            <a:r>
              <a:rPr lang="en-US" sz="3100" b="1" dirty="0">
                <a:solidFill>
                  <a:srgbClr val="153C38"/>
                </a:solidFill>
              </a:rPr>
              <a:t>Measure useful decisions within a small budget</a:t>
            </a:r>
            <a:endParaRPr lang="en-US" sz="3100" dirty="0"/>
          </a:p>
        </p:txBody>
      </p:sp>
      <p:sp>
        <p:nvSpPr>
          <p:cNvPr id="4" name="Shape 2"/>
          <p:cNvSpPr/>
          <p:nvPr/>
        </p:nvSpPr>
        <p:spPr>
          <a:xfrm>
            <a:off x="548640" y="2423160"/>
            <a:ext cx="54864" cy="484632"/>
          </a:xfrm>
          <a:prstGeom prst="rect">
            <a:avLst/>
          </a:prstGeom>
          <a:solidFill>
            <a:srgbClr val="26735F"/>
          </a:solidFill>
          <a:ln w="12700">
            <a:solidFill>
              <a:srgbClr val="26735F"/>
            </a:solidFill>
            <a:prstDash val="solid"/>
          </a:ln>
        </p:spPr>
      </p:sp>
      <p:sp>
        <p:nvSpPr>
          <p:cNvPr id="5" name="Text 3"/>
          <p:cNvSpPr/>
          <p:nvPr/>
        </p:nvSpPr>
        <p:spPr>
          <a:xfrm>
            <a:off x="795528" y="235000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Compare small AI models on the same inputs and task</a:t>
            </a:r>
            <a:endParaRPr lang="en-US" sz="2000" dirty="0"/>
          </a:p>
        </p:txBody>
      </p:sp>
      <p:sp>
        <p:nvSpPr>
          <p:cNvPr id="6" name="Shape 4"/>
          <p:cNvSpPr/>
          <p:nvPr/>
        </p:nvSpPr>
        <p:spPr>
          <a:xfrm>
            <a:off x="548640" y="3200400"/>
            <a:ext cx="54864" cy="484632"/>
          </a:xfrm>
          <a:prstGeom prst="rect">
            <a:avLst/>
          </a:prstGeom>
          <a:solidFill>
            <a:srgbClr val="26735F"/>
          </a:solidFill>
          <a:ln w="12700">
            <a:solidFill>
              <a:srgbClr val="26735F"/>
            </a:solidFill>
            <a:prstDash val="solid"/>
          </a:ln>
        </p:spPr>
      </p:sp>
      <p:sp>
        <p:nvSpPr>
          <p:cNvPr id="7" name="Text 5"/>
          <p:cNvSpPr/>
          <p:nvPr/>
        </p:nvSpPr>
        <p:spPr>
          <a:xfrm>
            <a:off x="795528" y="312724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Measure reward, failures, adaptation, RAM and joules/action</a:t>
            </a:r>
            <a:endParaRPr lang="en-US" sz="2000" dirty="0"/>
          </a:p>
        </p:txBody>
      </p:sp>
      <p:sp>
        <p:nvSpPr>
          <p:cNvPr id="8" name="Shape 6"/>
          <p:cNvSpPr/>
          <p:nvPr/>
        </p:nvSpPr>
        <p:spPr>
          <a:xfrm>
            <a:off x="548640" y="3977640"/>
            <a:ext cx="54864" cy="484632"/>
          </a:xfrm>
          <a:prstGeom prst="rect">
            <a:avLst/>
          </a:prstGeom>
          <a:solidFill>
            <a:srgbClr val="26735F"/>
          </a:solidFill>
          <a:ln w="12700">
            <a:solidFill>
              <a:srgbClr val="26735F"/>
            </a:solidFill>
            <a:prstDash val="solid"/>
          </a:ln>
        </p:spPr>
      </p:sp>
      <p:sp>
        <p:nvSpPr>
          <p:cNvPr id="9" name="Text 7"/>
          <p:cNvSpPr/>
          <p:nvPr/>
        </p:nvSpPr>
        <p:spPr>
          <a:xfrm>
            <a:off x="795528" y="3904488"/>
            <a:ext cx="10744200" cy="667512"/>
          </a:xfrm>
          <a:prstGeom prst="rect">
            <a:avLst/>
          </a:prstGeom>
          <a:noFill/>
          <a:ln/>
        </p:spPr>
        <p:txBody>
          <a:bodyPr wrap="square" lIns="0" tIns="0" rIns="0" bIns="0" rtlCol="0" anchor="ctr"/>
          <a:lstStyle/>
          <a:p>
            <a:pPr indent="0" marL="0">
              <a:buNone/>
            </a:pPr>
            <a:r>
              <a:rPr lang="en-US" sz="2000" dirty="0">
                <a:solidFill>
                  <a:srgbClr val="153C38"/>
                </a:solidFill>
              </a:rPr>
              <a:t>Apply to Uniswap execute/hold and Aqua offer/withdraw</a:t>
            </a:r>
            <a:endParaRPr lang="en-US" sz="2000" dirty="0"/>
          </a:p>
        </p:txBody>
      </p:sp>
      <p:sp>
        <p:nvSpPr>
          <p:cNvPr id="10" name="Shape 8"/>
          <p:cNvSpPr/>
          <p:nvPr/>
        </p:nvSpPr>
        <p:spPr>
          <a:xfrm>
            <a:off x="548640" y="5157216"/>
            <a:ext cx="11064240" cy="804672"/>
          </a:xfrm>
          <a:prstGeom prst="rect">
            <a:avLst/>
          </a:prstGeom>
          <a:solidFill>
            <a:srgbClr val="E4ECE1"/>
          </a:solidFill>
          <a:ln w="12700">
            <a:solidFill>
              <a:srgbClr val="E4ECE1"/>
            </a:solidFill>
            <a:prstDash val="solid"/>
          </a:ln>
        </p:spPr>
      </p:sp>
      <p:sp>
        <p:nvSpPr>
          <p:cNvPr id="11" name="Text 9"/>
          <p:cNvSpPr/>
          <p:nvPr/>
        </p:nvSpPr>
        <p:spPr>
          <a:xfrm>
            <a:off x="749808" y="5321808"/>
            <a:ext cx="10661904" cy="438912"/>
          </a:xfrm>
          <a:prstGeom prst="rect">
            <a:avLst/>
          </a:prstGeom>
          <a:noFill/>
          <a:ln/>
        </p:spPr>
        <p:txBody>
          <a:bodyPr wrap="square" lIns="0" tIns="0" rIns="0" bIns="0" rtlCol="0" anchor="ctr"/>
          <a:lstStyle/>
          <a:p>
            <a:pPr indent="0" marL="0">
              <a:buNone/>
            </a:pPr>
            <a:r>
              <a:rPr lang="en-US" sz="1500" dirty="0">
                <a:solidFill>
                  <a:srgbClr val="244D43"/>
                </a:solidFill>
              </a:rPr>
              <a:t>Lower operating cost could encourage adoption; that is unmeasured.</a:t>
            </a:r>
            <a:endParaRPr lang="en-US" sz="1500" dirty="0"/>
          </a:p>
        </p:txBody>
      </p:sp>
      <p:sp>
        <p:nvSpPr>
          <p:cNvPr id="12" name="Text 10"/>
          <p:cNvSpPr/>
          <p:nvPr/>
        </p:nvSpPr>
        <p:spPr>
          <a:xfrm>
            <a:off x="548640" y="6364224"/>
            <a:ext cx="11064240" cy="201168"/>
          </a:xfrm>
          <a:prstGeom prst="rect">
            <a:avLst/>
          </a:prstGeom>
          <a:noFill/>
          <a:ln/>
        </p:spPr>
        <p:txBody>
          <a:bodyPr wrap="square" lIns="0" tIns="0" rIns="0" bIns="0" rtlCol="0" anchor="ctr"/>
          <a:lstStyle/>
          <a:p>
            <a:pPr indent="0" marL="0">
              <a:buNone/>
            </a:pPr>
            <a:r>
              <a:rPr lang="en-US" sz="1000" dirty="0">
                <a:solidFill>
                  <a:srgbClr val="607B70"/>
                </a:solidFill>
              </a:rPr>
              <a:t>6 / 6    ·    50–60s    ·    2026-09-26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BioAgent | From purpose to demo</dc:title>
  <dc:subject>Build a framework for running biologically derived decision models on onchain inputs, adapting from experience, and comparing their effectiveness and resource use.</dc:subject>
  <dc:creator>BioAgent</dc:creator>
  <cp:lastModifiedBy>BioAgent</cp:lastModifiedBy>
  <cp:revision>1</cp:revision>
  <dcterms:created xsi:type="dcterms:W3CDTF">2026-09-26T10:21:39Z</dcterms:created>
  <dcterms:modified xsi:type="dcterms:W3CDTF">2026-09-26T10:21:39Z</dcterms:modified>
</cp:coreProperties>
</file>